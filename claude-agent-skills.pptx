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840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 ·  AGENT SKILLS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Skills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31520" y="23591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Toolkit for Extending AI Capabilities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37307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4251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37307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0" y="4251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7307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4251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01168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Agent Skills?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822960"/>
            <a:ext cx="8375904" cy="45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987552"/>
            <a:ext cx="4160520" cy="3749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115568"/>
            <a:ext cx="388620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structured instruction sets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extend Claude's capabilities for specialized, production-grade tasks.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skill bundles: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&amp; workflow guidance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tool recommendations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 warnings &amp; best practices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scripts &amp; templates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live in SKILL.md files with YAML front-matter that lets Claude trigger them automatically from natural language.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987552"/>
            <a:ext cx="3913632" cy="11338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987552"/>
            <a:ext cx="128016" cy="113385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084064" y="10789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Trigger-Based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84064" y="144475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activates a skill automatically when your request matches its description — no slash command required.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2267712"/>
            <a:ext cx="3913632" cy="11338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2267712"/>
            <a:ext cx="128016" cy="113385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5084064" y="23591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84064" y="272491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layer on top of each other. Use PPTX + Brand Guidelines together for branded decks.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3547872"/>
            <a:ext cx="3913632" cy="11338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3547872"/>
            <a:ext cx="128016" cy="113385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5084064" y="363931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84064" y="400507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Creator skill lets you build, benchmark, and refine entirely new skills.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Skill Landscape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production-grade skills across 5 categories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01168" y="1115568"/>
            <a:ext cx="1609344" cy="3657600"/>
          </a:xfrm>
          <a:prstGeom prst="rect">
            <a:avLst/>
          </a:prstGeom>
          <a:solidFill>
            <a:srgbClr val="2E4A8E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115568"/>
            <a:ext cx="1609344" cy="548640"/>
          </a:xfrm>
          <a:prstGeom prst="rect">
            <a:avLst/>
          </a:prstGeom>
          <a:solidFill>
            <a:srgbClr val="9BB5F5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1115568"/>
            <a:ext cx="1609344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Design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92224"/>
            <a:ext cx="1463040" cy="420624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10896" y="1801368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Art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1463040" cy="420624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10896" y="233172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Design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852928"/>
            <a:ext cx="1463040" cy="420624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" y="286207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Design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383280"/>
            <a:ext cx="1463040" cy="420624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" y="339242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Factory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913632"/>
            <a:ext cx="1463040" cy="420624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10896" y="3922776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GIF Creator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965960" y="1115568"/>
            <a:ext cx="1609344" cy="3657600"/>
          </a:xfrm>
          <a:prstGeom prst="rect">
            <a:avLst/>
          </a:prstGeom>
          <a:solidFill>
            <a:srgbClr val="1A5C42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965960" y="1115568"/>
            <a:ext cx="1609344" cy="548640"/>
          </a:xfrm>
          <a:prstGeom prst="rect">
            <a:avLst/>
          </a:prstGeom>
          <a:solidFill>
            <a:srgbClr val="7EC8A0"/>
          </a:solidFill>
          <a:ln/>
        </p:spPr>
      </p:sp>
      <p:sp>
        <p:nvSpPr>
          <p:cNvPr id="19" name="Text 17"/>
          <p:cNvSpPr/>
          <p:nvPr/>
        </p:nvSpPr>
        <p:spPr>
          <a:xfrm>
            <a:off x="1965960" y="1115568"/>
            <a:ext cx="1609344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39112" y="1792224"/>
            <a:ext cx="1463040" cy="420624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075688" y="1801368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039112" y="2322576"/>
            <a:ext cx="1463040" cy="420624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075688" y="233172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Builder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39112" y="2852928"/>
            <a:ext cx="1463040" cy="420624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075688" y="286207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Creator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039112" y="3383280"/>
            <a:ext cx="1463040" cy="420624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075688" y="339242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Testing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730752" y="1115568"/>
            <a:ext cx="1609344" cy="3657600"/>
          </a:xfrm>
          <a:prstGeom prst="rect">
            <a:avLst/>
          </a:prstGeom>
          <a:solidFill>
            <a:srgbClr val="7A3020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30752" y="1115568"/>
            <a:ext cx="1609344" cy="548640"/>
          </a:xfrm>
          <a:prstGeom prst="rect">
            <a:avLst/>
          </a:prstGeom>
          <a:solidFill>
            <a:srgbClr val="F5A87E"/>
          </a:solidFill>
          <a:ln/>
        </p:spPr>
      </p:sp>
      <p:sp>
        <p:nvSpPr>
          <p:cNvPr id="30" name="Text 28"/>
          <p:cNvSpPr/>
          <p:nvPr/>
        </p:nvSpPr>
        <p:spPr>
          <a:xfrm>
            <a:off x="3730752" y="1115568"/>
            <a:ext cx="1609344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Comms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03904" y="1792224"/>
            <a:ext cx="1463040" cy="420624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0" y="1801368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Guidelines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803904" y="2322576"/>
            <a:ext cx="1463040" cy="420624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840480" y="233172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Comms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95544" y="1115568"/>
            <a:ext cx="1609344" cy="3657600"/>
          </a:xfrm>
          <a:prstGeom prst="rect">
            <a:avLst/>
          </a:prstGeom>
          <a:solidFill>
            <a:srgbClr val="4A2C82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95544" y="1115568"/>
            <a:ext cx="1609344" cy="548640"/>
          </a:xfrm>
          <a:prstGeom prst="rect">
            <a:avLst/>
          </a:prstGeom>
          <a:solidFill>
            <a:srgbClr val="B8A0F0"/>
          </a:solidFill>
          <a:ln/>
        </p:spPr>
      </p:sp>
      <p:sp>
        <p:nvSpPr>
          <p:cNvPr id="37" name="Text 35"/>
          <p:cNvSpPr/>
          <p:nvPr/>
        </p:nvSpPr>
        <p:spPr>
          <a:xfrm>
            <a:off x="5495544" y="1115568"/>
            <a:ext cx="1609344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568696" y="1792224"/>
            <a:ext cx="1463040" cy="420624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605272" y="1801368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568696" y="2322576"/>
            <a:ext cx="1463040" cy="420624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605272" y="233172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568696" y="2852928"/>
            <a:ext cx="1463040" cy="420624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605272" y="286207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568696" y="3383280"/>
            <a:ext cx="1463040" cy="420624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605272" y="339242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260336" y="1115568"/>
            <a:ext cx="1609344" cy="3657600"/>
          </a:xfrm>
          <a:prstGeom prst="rect">
            <a:avLst/>
          </a:prstGeom>
          <a:solidFill>
            <a:srgbClr val="3A5A1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260336" y="1115568"/>
            <a:ext cx="1609344" cy="548640"/>
          </a:xfrm>
          <a:prstGeom prst="rect">
            <a:avLst/>
          </a:prstGeom>
          <a:solidFill>
            <a:srgbClr val="A8CC7A"/>
          </a:solidFill>
          <a:ln/>
        </p:spPr>
      </p:sp>
      <p:sp>
        <p:nvSpPr>
          <p:cNvPr id="48" name="Text 46"/>
          <p:cNvSpPr/>
          <p:nvPr/>
        </p:nvSpPr>
        <p:spPr>
          <a:xfrm>
            <a:off x="7260336" y="1115568"/>
            <a:ext cx="1609344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333488" y="1792224"/>
            <a:ext cx="1463040" cy="420624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370064" y="1801368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Coauthoring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333488" y="2322576"/>
            <a:ext cx="1463040" cy="420624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370064" y="233172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Artifacts Builder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4A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&amp;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&amp; Design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94360" y="2267712"/>
            <a:ext cx="1188720" cy="42062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2677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Skills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81635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for generating visual art, web interfaces,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designs, themes, and animations.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2834640" cy="338328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5087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Art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20116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25146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Design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3017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Factory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35204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GIF Creator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E4A8E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01168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Art  ·  Canvas Design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822960"/>
            <a:ext cx="8375904" cy="45720"/>
          </a:xfrm>
          <a:prstGeom prst="rect">
            <a:avLst/>
          </a:prstGeom>
          <a:solidFill>
            <a:srgbClr val="9BB5F5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960120"/>
            <a:ext cx="3977640" cy="3749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960120"/>
            <a:ext cx="3977640" cy="475488"/>
          </a:xfrm>
          <a:prstGeom prst="rect">
            <a:avLst/>
          </a:prstGeom>
          <a:solidFill>
            <a:srgbClr val="9BB5F5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96012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Art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03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generative art using p5.js with seeded randomness — outputs are reproducible yet feel alive.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process: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Artistic philosophy markdown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Interactive HTML artifact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computational beauty, parametric variation, emergent behavior, and controlled chaos.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73168" y="960120"/>
            <a:ext cx="3977640" cy="3749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960120"/>
            <a:ext cx="3977640" cy="475488"/>
          </a:xfrm>
          <a:prstGeom prst="rect">
            <a:avLst/>
          </a:prstGeom>
          <a:solidFill>
            <a:srgbClr val="9BB5F5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96012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Design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64608" y="1554480"/>
            <a:ext cx="3703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static visual designs as PDFs or PNGs — think coffee-table book pages and gallery prints.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process: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Design philosophy markdown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Visual PDF or PNG output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principle: minimalist text, maximum visual impact through font, color, form, and composition.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E4A8E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01168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Design  ·  Theme Factory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822960"/>
            <a:ext cx="8375904" cy="45720"/>
          </a:xfrm>
          <a:prstGeom prst="rect">
            <a:avLst/>
          </a:prstGeom>
          <a:solidFill>
            <a:srgbClr val="9BB5F5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960120"/>
            <a:ext cx="3977640" cy="3749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960120"/>
            <a:ext cx="3977640" cy="475488"/>
          </a:xfrm>
          <a:prstGeom prst="rect">
            <a:avLst/>
          </a:prstGeom>
          <a:solidFill>
            <a:srgbClr val="9BB5F5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96012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03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distinctive, production-grade web interfaces using HTML, CSS, JavaScript, React, or Vue.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rules: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aesthetic direction — avoid generic AI slop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 typography (not default Inter)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 motion &amp; spatial composition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visual quality with working code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73168" y="960120"/>
            <a:ext cx="3977640" cy="3749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960120"/>
            <a:ext cx="3977640" cy="475488"/>
          </a:xfrm>
          <a:prstGeom prst="rect">
            <a:avLst/>
          </a:prstGeom>
          <a:solidFill>
            <a:srgbClr val="9BB5F5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96012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Factory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64608" y="1554480"/>
            <a:ext cx="3703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professional themes to any artifact — slides, docs, reports, or HTML pages.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curated built-in themes: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Depths, Sunset Boulevard, Arctic Frost,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7 more — each with color palettes + font pairings.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themes can be generated on-the-fly from any brand or creative brief.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E4A8E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01168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GIF Creator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822960"/>
            <a:ext cx="8375904" cy="45720"/>
          </a:xfrm>
          <a:prstGeom prst="rect">
            <a:avLst/>
          </a:prstGeom>
          <a:solidFill>
            <a:srgbClr val="9BB5F5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987552"/>
            <a:ext cx="4160520" cy="3749040"/>
          </a:xfrm>
          <a:prstGeom prst="rect">
            <a:avLst/>
          </a:prstGeom>
          <a:solidFill>
            <a:srgbClr val="2E4A8E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3858768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animated GIFs optimized for Slack.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output sizes: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 GIFs — 128 × 128 px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GIFs — 480 × 480 px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animation concepts: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shake, pulse, bounce, spin, fade, slide, zoom, explode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includes easing functions, frame helpers, and validators — all optimized for file-size limits.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987552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Concepts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1481328"/>
            <a:ext cx="1828800" cy="621792"/>
          </a:xfrm>
          <a:prstGeom prst="rect">
            <a:avLst/>
          </a:prstGeom>
          <a:solidFill>
            <a:srgbClr val="2E4A8E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48132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12280" y="1481328"/>
            <a:ext cx="1828800" cy="621792"/>
          </a:xfrm>
          <a:prstGeom prst="rect">
            <a:avLst/>
          </a:prstGeom>
          <a:solidFill>
            <a:srgbClr val="2E4A8E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12280" y="148132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46320" y="2258568"/>
            <a:ext cx="1828800" cy="621792"/>
          </a:xfrm>
          <a:prstGeom prst="rect">
            <a:avLst/>
          </a:prstGeom>
          <a:solidFill>
            <a:srgbClr val="2E4A8E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2585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12280" y="2258568"/>
            <a:ext cx="1828800" cy="621792"/>
          </a:xfrm>
          <a:prstGeom prst="rect">
            <a:avLst/>
          </a:prstGeom>
          <a:solidFill>
            <a:srgbClr val="2E4A8E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22585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46320" y="3035808"/>
            <a:ext cx="1828800" cy="621792"/>
          </a:xfrm>
          <a:prstGeom prst="rect">
            <a:avLst/>
          </a:prstGeom>
          <a:solidFill>
            <a:srgbClr val="2E4A8E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0358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12280" y="3035808"/>
            <a:ext cx="1828800" cy="621792"/>
          </a:xfrm>
          <a:prstGeom prst="rect">
            <a:avLst/>
          </a:prstGeom>
          <a:solidFill>
            <a:srgbClr val="2E4A8E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30358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3813048"/>
            <a:ext cx="1828800" cy="621792"/>
          </a:xfrm>
          <a:prstGeom prst="rect">
            <a:avLst/>
          </a:prstGeom>
          <a:solidFill>
            <a:srgbClr val="2E4A8E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381304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12280" y="3813048"/>
            <a:ext cx="1828800" cy="621792"/>
          </a:xfrm>
          <a:prstGeom prst="rect">
            <a:avLst/>
          </a:prstGeom>
          <a:solidFill>
            <a:srgbClr val="2E4A8E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12280" y="381304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46320" y="4663440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PIL-based frame generation · Auto file-size optimization · Built-in validators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5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TECHNICAL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Technical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94360" y="2267712"/>
            <a:ext cx="1188720" cy="42062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2677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Skills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81635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and workflows for building LLM apps,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servers, skills, and automated tests.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2834640" cy="338328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5087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20116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Builder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25146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Creator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3017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Testing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A5C42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01168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Skill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822960"/>
            <a:ext cx="8375904" cy="45720"/>
          </a:xfrm>
          <a:prstGeom prst="rect">
            <a:avLst/>
          </a:prstGeom>
          <a:solidFill>
            <a:srgbClr val="7EC8A0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987552"/>
            <a:ext cx="8375904" cy="914400"/>
          </a:xfrm>
          <a:prstGeom prst="rect">
            <a:avLst/>
          </a:prstGeom>
          <a:solidFill>
            <a:srgbClr val="1A5C42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8755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guide for building LLM-powered applications — covers every SDK surface across 7 languages.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84048" y="2084832"/>
            <a:ext cx="4096512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2084832"/>
            <a:ext cx="109728" cy="1261872"/>
          </a:xfrm>
          <a:prstGeom prst="rect">
            <a:avLst/>
          </a:prstGeom>
          <a:solidFill>
            <a:srgbClr val="7EC8A0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21762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SDKs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5216" y="254203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TypeScript, Java, Go, Ruby, C#, PHP — with language-specific guidance for each.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36008" y="2084832"/>
            <a:ext cx="4096512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2084832"/>
            <a:ext cx="109728" cy="1261872"/>
          </a:xfrm>
          <a:prstGeom prst="rect">
            <a:avLst/>
          </a:prstGeom>
          <a:solidFill>
            <a:srgbClr val="7EC8A0"/>
          </a:solidFill>
          <a:ln/>
        </p:spPr>
      </p:sp>
      <p:sp>
        <p:nvSpPr>
          <p:cNvPr id="13" name="Text 11"/>
          <p:cNvSpPr/>
          <p:nvPr/>
        </p:nvSpPr>
        <p:spPr>
          <a:xfrm>
            <a:off x="4837176" y="21762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Surfaces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37176" y="254203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calls, tool use, streaming, agents, Managed Agents, batching, structured output.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84048" y="3502152"/>
            <a:ext cx="4096512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3502152"/>
            <a:ext cx="109728" cy="1261872"/>
          </a:xfrm>
          <a:prstGeom prst="rect">
            <a:avLst/>
          </a:prstGeom>
          <a:solidFill>
            <a:srgbClr val="7EC8A0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" y="35935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5216" y="395935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caching, extended thinking, compaction, citations, Files API, model selection.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36008" y="3502152"/>
            <a:ext cx="4096512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36008" y="3502152"/>
            <a:ext cx="109728" cy="1261872"/>
          </a:xfrm>
          <a:prstGeom prst="rect">
            <a:avLst/>
          </a:prstGeom>
          <a:solidFill>
            <a:srgbClr val="7EC8A0"/>
          </a:solidFill>
          <a:ln/>
        </p:spPr>
      </p:sp>
      <p:sp>
        <p:nvSpPr>
          <p:cNvPr id="21" name="Text 19"/>
          <p:cNvSpPr/>
          <p:nvPr/>
        </p:nvSpPr>
        <p:spPr>
          <a:xfrm>
            <a:off x="4837176" y="35935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Models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37176" y="395935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4.7, Sonnet 4.6, Haiku 4.5 — with decision trees for choosing the right one.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A5C42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01168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Builder  ·  Skill Creator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822960"/>
            <a:ext cx="8375904" cy="45720"/>
          </a:xfrm>
          <a:prstGeom prst="rect">
            <a:avLst/>
          </a:prstGeom>
          <a:solidFill>
            <a:srgbClr val="7EC8A0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960120"/>
            <a:ext cx="3977640" cy="3749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960120"/>
            <a:ext cx="3977640" cy="475488"/>
          </a:xfrm>
          <a:prstGeom prst="rect">
            <a:avLst/>
          </a:prstGeom>
          <a:solidFill>
            <a:srgbClr val="7EC8A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96012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Builder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03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you through building Model Context Protocol servers — the standard for connecting AI to external tools and data.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Four-phase workflow: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→ Implementation → Review → Evaluate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stack: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+ HTTP transport for remote servers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transport for local integrations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73168" y="960120"/>
            <a:ext cx="3977640" cy="3749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960120"/>
            <a:ext cx="3977640" cy="475488"/>
          </a:xfrm>
          <a:prstGeom prst="rect">
            <a:avLst/>
          </a:prstGeom>
          <a:solidFill>
            <a:srgbClr val="7EC8A0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96012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Creator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64608" y="1554480"/>
            <a:ext cx="3703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meta-skill for building, benchmarking, and refining other skills — the toolkit for extending the toolkit.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intent → Write draft → Run tests → Evaluate → Iterate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benchmark viewer with qualitative and quantitative metrics, and description optimization to improve trigger accuracy.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A5C42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01168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Testing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822960"/>
            <a:ext cx="8375904" cy="45720"/>
          </a:xfrm>
          <a:prstGeom prst="rect">
            <a:avLst/>
          </a:prstGeom>
          <a:solidFill>
            <a:srgbClr val="7EC8A0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987552"/>
            <a:ext cx="4160520" cy="3749040"/>
          </a:xfrm>
          <a:prstGeom prst="rect">
            <a:avLst/>
          </a:prstGeom>
          <a:solidFill>
            <a:srgbClr val="1A5C42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3858768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Playwright-based testing for local web apps — both static HTML and dynamic single-page apps.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Reconnaissance-then-action pattern: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DOM → Identify selectors → Execute tests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at each step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console logs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DOM snapshots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987552"/>
            <a:ext cx="3913632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987552"/>
            <a:ext cx="502920" cy="822960"/>
          </a:xfrm>
          <a:prstGeom prst="rect">
            <a:avLst/>
          </a:prstGeom>
          <a:solidFill>
            <a:srgbClr val="1A5C42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987552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68112" y="10607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Server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68112" y="1389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scripts manage server lifecycle automatically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46320" y="1947672"/>
            <a:ext cx="3913632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947672"/>
            <a:ext cx="502920" cy="822960"/>
          </a:xfrm>
          <a:prstGeom prst="rect">
            <a:avLst/>
          </a:prstGeom>
          <a:solidFill>
            <a:srgbClr val="1A5C42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947672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68112" y="20208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DOM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68112" y="23500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selectors, routes, and interactive elements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2907792"/>
            <a:ext cx="3913632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907792"/>
            <a:ext cx="502920" cy="822960"/>
          </a:xfrm>
          <a:prstGeom prst="rect">
            <a:avLst/>
          </a:prstGeom>
          <a:solidFill>
            <a:srgbClr val="1A5C42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907792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68112" y="29809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Tests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68112" y="33101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Playwright actions across flows and edge cases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46320" y="3867912"/>
            <a:ext cx="3913632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867912"/>
            <a:ext cx="502920" cy="822960"/>
          </a:xfrm>
          <a:prstGeom prst="rect">
            <a:avLst/>
          </a:prstGeom>
          <a:solidFill>
            <a:srgbClr val="1A5C42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867912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68112" y="39410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Evidence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68112" y="42702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+ console logs saved per test step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A3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COMMUNICATION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Communication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94360" y="2267712"/>
            <a:ext cx="1188720" cy="42062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2677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Skills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81635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Brand-consistent styling and structured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for company-wide communications.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2834640" cy="338328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5087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Guidelines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20116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Comms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A3020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01168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Guidelines  ·  Internal Communications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822960"/>
            <a:ext cx="8375904" cy="45720"/>
          </a:xfrm>
          <a:prstGeom prst="rect">
            <a:avLst/>
          </a:prstGeom>
          <a:solidFill>
            <a:srgbClr val="F5A87E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960120"/>
            <a:ext cx="3977640" cy="3749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960120"/>
            <a:ext cx="3977640" cy="475488"/>
          </a:xfrm>
          <a:prstGeom prst="rect">
            <a:avLst/>
          </a:prstGeom>
          <a:solidFill>
            <a:srgbClr val="F5A87E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96012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Guidelines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03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Anthropic's official brand styling to any output — colors, typography, and accent system.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palette: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#141413  ·  Light #faf9f5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#d97757  ·  Blue #6a9bcc  ·  Green #788c5d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 (headings)  ·  Lora (body)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font fallbacks built 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73168" y="960120"/>
            <a:ext cx="3977640" cy="3749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960120"/>
            <a:ext cx="3977640" cy="475488"/>
          </a:xfrm>
          <a:prstGeom prst="rect">
            <a:avLst/>
          </a:prstGeom>
          <a:solidFill>
            <a:srgbClr val="F5A87E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96012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Communications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64608" y="1554480"/>
            <a:ext cx="3703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workflows for company-wide communication — standardizes tone and format across the org.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formats: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 Updates (Progress / Plans / Problems)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Newsletters &amp; team updates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FAQs &amp; status reports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A2C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SUITE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Suite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94360" y="2267712"/>
            <a:ext cx="1188720" cy="42062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2677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Skills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81635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and edit Word, PDF, PowerPoint,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Excel files with expert-level guidance.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2834640" cy="338328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5087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20116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25146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3017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4A2C82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01168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 ·  PDF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822960"/>
            <a:ext cx="8375904" cy="45720"/>
          </a:xfrm>
          <a:prstGeom prst="rect">
            <a:avLst/>
          </a:prstGeom>
          <a:solidFill>
            <a:srgbClr val="B8A0F0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960120"/>
            <a:ext cx="3977640" cy="3749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960120"/>
            <a:ext cx="3977640" cy="475488"/>
          </a:xfrm>
          <a:prstGeom prst="rect">
            <a:avLst/>
          </a:prstGeom>
          <a:solidFill>
            <a:srgbClr val="B8A0F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96012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— Word Documents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03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create / read / edit lifecycle for Word documents, using docx-js for creation and pandoc for extraction.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headers/footers, TOC, tracked changes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Comments, images, and embedded objects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notes: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to A4 — specify US Letter explicitly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scripts auto-repair common issues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73168" y="960120"/>
            <a:ext cx="3977640" cy="3749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960120"/>
            <a:ext cx="3977640" cy="475488"/>
          </a:xfrm>
          <a:prstGeom prst="rect">
            <a:avLst/>
          </a:prstGeom>
          <a:solidFill>
            <a:srgbClr val="B8A0F0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96012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— Full Operations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64608" y="1554480"/>
            <a:ext cx="3703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PDF workflows using pypdf, pdfplumber, and reportlab.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Merge, split, rotate, extract text/tables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OCR, watermark, password protect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from scratch with reportlab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tools: pdftotext, qpdf, pdftk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4A2C82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01168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 ·  XLSX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822960"/>
            <a:ext cx="8375904" cy="45720"/>
          </a:xfrm>
          <a:prstGeom prst="rect">
            <a:avLst/>
          </a:prstGeom>
          <a:solidFill>
            <a:srgbClr val="B8A0F0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960120"/>
            <a:ext cx="3977640" cy="3749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960120"/>
            <a:ext cx="3977640" cy="475488"/>
          </a:xfrm>
          <a:prstGeom prst="rect">
            <a:avLst/>
          </a:prstGeom>
          <a:solidFill>
            <a:srgbClr val="B8A0F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96012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— PowerPoint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03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edit PowerPoint presentations with bold design guidance and mandatory visual QA.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layouts — never repeat the same slide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needs a visual element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problems — use subagents for QA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pptxgenjs · markitdown · LibreOffice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73168" y="960120"/>
            <a:ext cx="3977640" cy="3749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960120"/>
            <a:ext cx="3977640" cy="475488"/>
          </a:xfrm>
          <a:prstGeom prst="rect">
            <a:avLst/>
          </a:prstGeom>
          <a:solidFill>
            <a:srgbClr val="B8A0F0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96012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— Spreadsheets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64608" y="1554480"/>
            <a:ext cx="3703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edit Excel files using pandas for analysis and openpyxl for formulas and formatting.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rules: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formulas — never hardcode values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formula errors before delivery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recalc.py after formula creation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standard: blue=inputs, black=formulas, green=internal, red=external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A5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SKILLS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Skills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94360" y="2267712"/>
            <a:ext cx="1188720" cy="42062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2677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Skills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81635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document creation and complex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React/TypeScript artifacts for Claude.ai.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2834640" cy="338328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5087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Coauthoring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20116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Artifacts Builder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3A5A1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01168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Coauthoring  ·  Web Artifacts Builder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822960"/>
            <a:ext cx="8375904" cy="45720"/>
          </a:xfrm>
          <a:prstGeom prst="rect">
            <a:avLst/>
          </a:prstGeom>
          <a:solidFill>
            <a:srgbClr val="A8CC7A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960120"/>
            <a:ext cx="3977640" cy="3749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960120"/>
            <a:ext cx="3977640" cy="475488"/>
          </a:xfrm>
          <a:prstGeom prst="rect">
            <a:avLst/>
          </a:prstGeom>
          <a:solidFill>
            <a:srgbClr val="A8CC7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96012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Coauthoring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03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three-stage workflow for collaborative document creation — catches blind spots by testing with a fresh Claude instance.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 Gathering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Refinement &amp; Structure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Reader Testing (sub-agent)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 approach — clarity for readers, not just authors.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73168" y="960120"/>
            <a:ext cx="3977640" cy="3749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960120"/>
            <a:ext cx="3977640" cy="475488"/>
          </a:xfrm>
          <a:prstGeom prst="rect">
            <a:avLst/>
          </a:prstGeom>
          <a:solidFill>
            <a:srgbClr val="A8CC7A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96012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Artifacts Builder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64608" y="1554480"/>
            <a:ext cx="3703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complex React/TypeScript artifacts for Claude.ai — bundled to a single self-contained HTML file.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Vite + Parcel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shadcn/ui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excessive centering, purple gradients, or Inter — avoid AI slop aesthetics.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01168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Themes Across All Skills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822960"/>
            <a:ext cx="8375904" cy="45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005840"/>
            <a:ext cx="2697480" cy="13258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05840"/>
            <a:ext cx="2697480" cy="34747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0058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Approach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4173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skills output a philosophy doc first, then the artifact — intent guides execution.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18688" y="1005840"/>
            <a:ext cx="2697480" cy="13258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005840"/>
            <a:ext cx="2697480" cy="34747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0058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Craftsmanship Standard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4173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 targets master-level output. Generic 'AI slop' aesthetics are explicitly forbidden.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53328" y="2468880"/>
            <a:ext cx="2697480" cy="13258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53328" y="2468880"/>
            <a:ext cx="2697480" cy="34747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6144768" y="2468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as Primary Task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44768" y="28803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requires subagent visual inspection. XLSX requires zero errors. Assume problems exist.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84048" y="2468880"/>
            <a:ext cx="2697480" cy="13258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468880"/>
            <a:ext cx="2697480" cy="34747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2468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by Design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28803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layer: PPTX + Brand Guidelines = branded decks. Claude API + MCP Builder = full stack.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18688" y="3931920"/>
            <a:ext cx="2697480" cy="13258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3931920"/>
            <a:ext cx="2697480" cy="34747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3310128" y="39319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Start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43434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Art, Canvas, and Web Artifacts all provide templates — never start from scratch.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53328" y="3931920"/>
            <a:ext cx="2697480" cy="13258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53328" y="3931920"/>
            <a:ext cx="2697480" cy="34747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6144768" y="39319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Output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44768" y="43434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routinely produce 2+ file types (e.g., .md philosophy + .html artifact) for richer results.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749040"/>
            <a:ext cx="9144000" cy="139446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Toolkit.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Endless Capabilities.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production-grade skills spanning creative design, software development,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communication, document processing, and specialized workflows.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8587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4315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38587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4315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8587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17920" y="4315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Agent Skills</dc:title>
  <dc:subject>PptxGenJS Presentation</dc:subject>
  <dc:creator>PptxGenJS</dc:creator>
  <cp:lastModifiedBy>PptxGenJS</cp:lastModifiedBy>
  <cp:revision>1</cp:revision>
  <dcterms:created xsi:type="dcterms:W3CDTF">2026-04-20T23:49:26Z</dcterms:created>
  <dcterms:modified xsi:type="dcterms:W3CDTF">2026-04-20T23:49:26Z</dcterms:modified>
</cp:coreProperties>
</file>